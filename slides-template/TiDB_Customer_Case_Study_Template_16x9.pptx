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837"/>
  </p:normalViewPr>
  <p:slideViewPr>
    <p:cSldViewPr snapToGrid="0" snapToObjects="1">
      <p:cViewPr varScale="1">
        <p:scale>
          <a:sx n="90" d="100"/>
          <a:sy n="90" d="100"/>
        </p:scale>
        <p:origin x="19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71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0080" y="1234440"/>
            <a:ext cx="86004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DM Sans"/>
              </a:rPr>
              <a:t>&lt;</a:t>
            </a:r>
            <a:r>
              <a:rPr lang="en-US" sz="4400" b="1" dirty="0" err="1">
                <a:solidFill>
                  <a:srgbClr val="FFFFFF"/>
                </a:solidFill>
                <a:latin typeface="DM Sans"/>
              </a:rPr>
              <a:t>customer_name</a:t>
            </a:r>
            <a:r>
              <a:rPr lang="en-US" sz="4400" b="1" dirty="0">
                <a:solidFill>
                  <a:srgbClr val="FFFFFF"/>
                </a:solidFill>
                <a:latin typeface="DM Sans"/>
              </a:rPr>
              <a:t>&gt;</a:t>
            </a:r>
            <a:r>
              <a:rPr sz="4400" b="1" dirty="0">
                <a:solidFill>
                  <a:srgbClr val="FFFFFF"/>
                </a:solidFill>
                <a:latin typeface="DM Sans"/>
              </a:rPr>
              <a:t>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47596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DBD9"/>
                </a:solidFill>
                <a:latin typeface="DM Sans"/>
              </a:defRPr>
            </a:pPr>
            <a:r>
              <a:rPr sz="2400" b="0" dirty="0">
                <a:solidFill>
                  <a:srgbClr val="EBEBEB"/>
                </a:solidFill>
                <a:latin typeface="DM Sans"/>
              </a:rPr>
              <a:t>Product: </a:t>
            </a:r>
            <a:r>
              <a:rPr lang="en-US" sz="2400" b="0" dirty="0">
                <a:solidFill>
                  <a:srgbClr val="EBEBEB"/>
                </a:solidFill>
                <a:latin typeface="DM Sans"/>
              </a:rPr>
              <a:t>&lt;</a:t>
            </a:r>
            <a:r>
              <a:rPr sz="2400" b="0" dirty="0" err="1">
                <a:solidFill>
                  <a:srgbClr val="EBEBEB"/>
                </a:solidFill>
                <a:latin typeface="DM Sans"/>
              </a:rPr>
              <a:t>TiDB</a:t>
            </a:r>
            <a:r>
              <a:rPr lang="en-US" sz="2400" b="0" dirty="0" err="1">
                <a:solidFill>
                  <a:srgbClr val="EBEBEB"/>
                </a:solidFill>
                <a:latin typeface="DM Sans"/>
              </a:rPr>
              <a:t>_product_name</a:t>
            </a:r>
            <a:r>
              <a:rPr lang="en-US" sz="2400" b="0" dirty="0">
                <a:solidFill>
                  <a:srgbClr val="EBEBEB"/>
                </a:solidFill>
                <a:latin typeface="DM Sans"/>
              </a:rPr>
              <a:t>&gt;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808747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5E8EB"/>
                </a:solidFill>
                <a:latin typeface="DM Sans"/>
              </a:defRPr>
            </a:pPr>
            <a:r>
              <a:rPr lang="en-US" sz="2600" b="0" dirty="0">
                <a:solidFill>
                  <a:srgbClr val="F5F5F5"/>
                </a:solidFill>
                <a:latin typeface="DM Sans"/>
              </a:rPr>
              <a:t>Distributed SQL at scale with operational simplicity</a:t>
            </a:r>
            <a:endParaRPr sz="2600" b="0" dirty="0">
              <a:solidFill>
                <a:srgbClr val="F5F5F5"/>
              </a:solidFill>
              <a:latin typeface="DM Sans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685800" y="5486400"/>
            <a:ext cx="685800" cy="438912"/>
          </a:xfrm>
          <a:prstGeom prst="parallelogram">
            <a:avLst/>
          </a:prstGeom>
          <a:solidFill>
            <a:srgbClr val="871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rallelogram 8"/>
          <p:cNvSpPr/>
          <p:nvPr/>
        </p:nvSpPr>
        <p:spPr>
          <a:xfrm>
            <a:off x="1472184" y="5340096"/>
            <a:ext cx="685800" cy="438912"/>
          </a:xfrm>
          <a:prstGeom prst="parallelogram">
            <a:avLst/>
          </a:prstGeom>
          <a:solidFill>
            <a:srgbClr val="DC1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rallelogram 9"/>
          <p:cNvSpPr/>
          <p:nvPr/>
        </p:nvSpPr>
        <p:spPr>
          <a:xfrm>
            <a:off x="2258568" y="5193792"/>
            <a:ext cx="685800" cy="438912"/>
          </a:xfrm>
          <a:prstGeom prst="parallelogram">
            <a:avLst/>
          </a:prstGeom>
          <a:solidFill>
            <a:srgbClr val="F35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9C2CA"/>
                </a:solidFill>
                <a:latin typeface="DM Sans"/>
              </a:defRPr>
            </a:pPr>
            <a:r>
              <a:rPr sz="1300" b="0">
                <a:solidFill>
                  <a:srgbClr val="DCDCDC"/>
                </a:solidFill>
                <a:latin typeface="DM Sans"/>
              </a:rPr>
              <a:t>Confidential - For internal and customer presentation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94360" y="1143000"/>
            <a:ext cx="5303520" cy="475488"/>
          </a:xfrm>
          <a:prstGeom prst="roundRect">
            <a:avLst/>
          </a:prstGeom>
          <a:solidFill>
            <a:srgbClr val="DC150B"/>
          </a:solidFill>
          <a:ln>
            <a:solidFill>
              <a:srgbClr val="DC1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M Sans"/>
              </a:defRPr>
            </a:pPr>
            <a:r>
              <a:rPr sz="2400" b="1">
                <a:solidFill>
                  <a:srgbClr val="FFFFFF"/>
                </a:solidFill>
                <a:latin typeface="DM Sans"/>
              </a:rP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94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DM Sans"/>
              </a:defRPr>
            </a:pPr>
            <a:r>
              <a:t>Manual sharding across Aurora clusters increased routing and operational toil.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Schema changes across large tables were slow and brittle across many shards.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Engineers had to embed shard-awareness in application logic, reducing velocity.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Fragmented clusters limited system-wide observability and cross-tenant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486400" cy="475488"/>
          </a:xfrm>
          <a:prstGeom prst="roundRect">
            <a:avLst/>
          </a:prstGeom>
          <a:solidFill>
            <a:srgbClr val="DC150B"/>
          </a:solidFill>
          <a:ln>
            <a:solidFill>
              <a:srgbClr val="DC1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M Sans"/>
              </a:defRPr>
            </a:pPr>
            <a:r>
              <a:rPr sz="2400" b="1" dirty="0">
                <a:solidFill>
                  <a:srgbClr val="FFFFFF"/>
                </a:solidFill>
                <a:latin typeface="DM Sans"/>
              </a:rPr>
              <a:t>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DM Sans"/>
              </a:defRPr>
            </a:pPr>
            <a:r>
              <a:t>Moved to TiDB Cloud distributed SQL to eliminate manual sharding workflows.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Kept MySQL-compatible interface to lower migration risk and rewrite effort.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Used Raft-backed consistency to maintain correctness across distributed nodes.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Enabled safer online schema changes and rolling maintenance with less downtime.</a:t>
            </a:r>
          </a:p>
          <a:p>
            <a:pPr>
              <a:defRPr sz="1800">
                <a:solidFill>
                  <a:srgbClr val="202020"/>
                </a:solidFill>
                <a:latin typeface="DM Sans"/>
              </a:defRPr>
            </a:pPr>
            <a:r>
              <a:t>Deployed on AWS Kubernetes with integrated observability and automation.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C1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9301EE-9B31-6FC0-843A-0DEEA659E039}"/>
              </a:ext>
            </a:extLst>
          </p:cNvPr>
          <p:cNvSpPr txBox="1"/>
          <p:nvPr/>
        </p:nvSpPr>
        <p:spPr>
          <a:xfrm>
            <a:off x="502920" y="361557"/>
            <a:ext cx="633699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 i="0">
                <a:solidFill>
                  <a:srgbClr val="111111"/>
                </a:solidFill>
                <a:latin typeface="DM Sans"/>
              </a:defRPr>
            </a:pPr>
            <a:r>
              <a:rPr lang="en-US" dirty="0"/>
              <a:t>&lt;</a:t>
            </a:r>
            <a:r>
              <a:rPr lang="en-US" dirty="0" err="1"/>
              <a:t>one_sentence_summary_as_title</a:t>
            </a:r>
            <a:r>
              <a:rPr lang="en-US" dirty="0"/>
              <a:t>&gt;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94360" y="1143000"/>
            <a:ext cx="5303520" cy="475488"/>
          </a:xfrm>
          <a:prstGeom prst="roundRect">
            <a:avLst/>
          </a:prstGeom>
          <a:solidFill>
            <a:srgbClr val="DC150B"/>
          </a:solidFill>
          <a:ln>
            <a:solidFill>
              <a:srgbClr val="DC1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M Sans"/>
              </a:defRPr>
            </a:pPr>
            <a:r>
              <a:rPr sz="2400" b="1">
                <a:solidFill>
                  <a:srgbClr val="FFFFFF"/>
                </a:solidFill>
                <a:latin typeface="DM Sans"/>
              </a:rPr>
              <a:t>Quantified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DM Sans"/>
              </a:defRPr>
            </a:pPr>
            <a:r>
              <a:rPr sz="1650" b="1" dirty="0">
                <a:solidFill>
                  <a:srgbClr val="202020"/>
                </a:solidFill>
                <a:latin typeface="DM Sans"/>
              </a:rPr>
              <a:t>25%</a:t>
            </a:r>
            <a:r>
              <a:rPr sz="1650" b="0" dirty="0">
                <a:solidFill>
                  <a:srgbClr val="202020"/>
                </a:solidFill>
                <a:latin typeface="DM Sans"/>
              </a:rPr>
              <a:t> reduction in data footprint through improved resource efficiency.</a:t>
            </a:r>
          </a:p>
          <a:p>
            <a:r>
              <a:rPr sz="1650" b="1" dirty="0">
                <a:solidFill>
                  <a:srgbClr val="202020"/>
                </a:solidFill>
                <a:latin typeface="DM Sans"/>
              </a:rPr>
              <a:t>5x</a:t>
            </a:r>
            <a:r>
              <a:rPr sz="1650" b="0" dirty="0">
                <a:solidFill>
                  <a:srgbClr val="202020"/>
                </a:solidFill>
                <a:latin typeface="DM Sans"/>
              </a:rPr>
              <a:t> increase in resource utilization to support higher-scale workloads.</a:t>
            </a:r>
          </a:p>
          <a:p>
            <a:r>
              <a:rPr sz="1650" b="1" dirty="0">
                <a:solidFill>
                  <a:srgbClr val="202020"/>
                </a:solidFill>
                <a:latin typeface="DM Sans"/>
              </a:rPr>
              <a:t>500k</a:t>
            </a:r>
            <a:r>
              <a:rPr sz="1650" b="0" dirty="0">
                <a:solidFill>
                  <a:srgbClr val="202020"/>
                </a:solidFill>
                <a:latin typeface="DM Sans"/>
              </a:rPr>
              <a:t> queries per second class workloads supported in </a:t>
            </a:r>
            <a:r>
              <a:rPr lang="en-US" sz="1650">
                <a:solidFill>
                  <a:srgbClr val="202020"/>
                </a:solidFill>
                <a:latin typeface="DM Sans"/>
              </a:rPr>
              <a:t>Xxx</a:t>
            </a:r>
            <a:r>
              <a:rPr sz="1650" b="0">
                <a:solidFill>
                  <a:srgbClr val="202020"/>
                </a:solidFill>
                <a:latin typeface="DM Sans"/>
              </a:rPr>
              <a:t> storage environment.</a:t>
            </a:r>
          </a:p>
          <a:p>
            <a:r>
              <a:rPr sz="1650" b="1" dirty="0">
                <a:solidFill>
                  <a:srgbClr val="202020"/>
                </a:solidFill>
                <a:latin typeface="DM Sans"/>
              </a:rPr>
              <a:t>41</a:t>
            </a:r>
            <a:r>
              <a:rPr sz="1650" b="0" dirty="0">
                <a:solidFill>
                  <a:srgbClr val="202020"/>
                </a:solidFill>
                <a:latin typeface="DM Sans"/>
              </a:rPr>
              <a:t> services targeted by end-of-year migration program.</a:t>
            </a:r>
          </a:p>
          <a:p>
            <a:r>
              <a:rPr sz="1650" b="1" dirty="0">
                <a:solidFill>
                  <a:srgbClr val="202020"/>
                </a:solidFill>
                <a:latin typeface="DM Sans"/>
              </a:rPr>
              <a:t>99.995%+</a:t>
            </a:r>
            <a:r>
              <a:rPr sz="1650" b="0" dirty="0">
                <a:solidFill>
                  <a:srgbClr val="202020"/>
                </a:solidFill>
                <a:latin typeface="DM Sans"/>
              </a:rPr>
              <a:t> database reliability objective for critical financial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486400" cy="475488"/>
          </a:xfrm>
          <a:prstGeom prst="roundRect">
            <a:avLst/>
          </a:prstGeom>
          <a:solidFill>
            <a:srgbClr val="DC150B"/>
          </a:solidFill>
          <a:ln>
            <a:solidFill>
              <a:srgbClr val="DC1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M Sans"/>
              </a:defRPr>
            </a:pPr>
            <a:r>
              <a:rPr sz="2400" b="1">
                <a:solidFill>
                  <a:srgbClr val="FFFFFF"/>
                </a:solidFill>
                <a:latin typeface="DM Sans"/>
              </a:rPr>
              <a:t>Architecture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249" y="6410500"/>
            <a:ext cx="418255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974"/>
                </a:solidFill>
                <a:latin typeface="DM Sans"/>
              </a:defRPr>
            </a:pPr>
            <a:r>
              <a:rPr sz="1100" b="0" dirty="0">
                <a:solidFill>
                  <a:srgbClr val="505050"/>
                </a:solidFill>
                <a:latin typeface="DM Sans"/>
              </a:rPr>
              <a:t>Reference architecture adapted from </a:t>
            </a:r>
            <a:r>
              <a:rPr lang="en-US" sz="1100" dirty="0" err="1">
                <a:solidFill>
                  <a:srgbClr val="505050"/>
                </a:solidFill>
                <a:latin typeface="DM Sans"/>
              </a:rPr>
              <a:t>Xxx</a:t>
            </a:r>
            <a:r>
              <a:rPr sz="1100" b="0" dirty="0">
                <a:solidFill>
                  <a:srgbClr val="505050"/>
                </a:solidFill>
                <a:latin typeface="DM Sans"/>
              </a:rPr>
              <a:t> migration workflow.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DC1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FFD20-ED3F-D0D0-4D86-C9E396FFCB5E}"/>
              </a:ext>
            </a:extLst>
          </p:cNvPr>
          <p:cNvSpPr txBox="1"/>
          <p:nvPr/>
        </p:nvSpPr>
        <p:spPr>
          <a:xfrm>
            <a:off x="502920" y="361557"/>
            <a:ext cx="633699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 i="0">
                <a:solidFill>
                  <a:srgbClr val="111111"/>
                </a:solidFill>
                <a:latin typeface="DM Sans"/>
              </a:defRPr>
            </a:pPr>
            <a:r>
              <a:rPr lang="en-US" dirty="0"/>
              <a:t>&lt;</a:t>
            </a:r>
            <a:r>
              <a:rPr lang="en-US" dirty="0" err="1"/>
              <a:t>one_sentence_summary_as_title</a:t>
            </a:r>
            <a:r>
              <a:rPr lang="en-US" dirty="0"/>
              <a:t>&gt;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219</Words>
  <Application>Microsoft Macintosh PowerPoint</Application>
  <PresentationFormat>Widescreen</PresentationFormat>
  <Paragraphs>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DM Sans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Bao Todd</cp:lastModifiedBy>
  <cp:revision>18</cp:revision>
  <dcterms:created xsi:type="dcterms:W3CDTF">2013-01-27T09:14:16Z</dcterms:created>
  <dcterms:modified xsi:type="dcterms:W3CDTF">2026-03-31T07:04:55Z</dcterms:modified>
  <cp:category/>
</cp:coreProperties>
</file>